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2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13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2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4.xml" ContentType="application/vnd.openxmlformats-officedocument.theme+xml"/>
  <Override PartName="/ppt/theme/theme4.xml" ContentType="application/vnd.openxmlformats-officedocument.theme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12.xml" ContentType="application/vnd.openxmlformats-officedocument.theme+xml"/>
  <Override PartName="/ppt/theme/theme3.xml" ContentType="application/vnd.openxmlformats-officedocument.theme+xml"/>
  <Override PartName="/ppt/theme/theme13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10.xml" ContentType="application/vnd.openxmlformats-officedocument.theme+xml"/>
  <Override PartName="/ppt/theme/theme9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_rels/slideLayout9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13.png" ContentType="image/png"/>
  <Override PartName="/ppt/media/image4.png" ContentType="image/png"/>
  <Override PartName="/ppt/media/image9.png" ContentType="image/png"/>
  <Override PartName="/ppt/media/image18.png" ContentType="image/png"/>
  <Override PartName="/ppt/media/image20.png" ContentType="image/png"/>
  <Override PartName="/ppt/media/image12.png" ContentType="image/png"/>
  <Override PartName="/ppt/media/image3.png" ContentType="image/png"/>
  <Override PartName="/ppt/media/image19.png" ContentType="image/png"/>
  <Override PartName="/ppt/media/image14.png" ContentType="image/png"/>
  <Override PartName="/ppt/media/image5.png" ContentType="image/png"/>
  <Override PartName="/ppt/media/image15.png" ContentType="image/png"/>
  <Override PartName="/ppt/media/image6.png" ContentType="image/png"/>
  <Override PartName="/ppt/media/image10.png" ContentType="image/png"/>
  <Override PartName="/ppt/media/image1.png" ContentType="image/png"/>
  <Override PartName="/ppt/media/image16.png" ContentType="image/png"/>
  <Override PartName="/ppt/media/image7.png" ContentType="image/png"/>
  <Override PartName="/ppt/media/image2.png" ContentType="image/png"/>
  <Override PartName="/ppt/media/image11.png" ContentType="image/png"/>
  <Override PartName="/ppt/media/image17.png" ContentType="image/png"/>
  <Override PartName="/ppt/media/image8.png" ContentType="image/png"/>
  <Override PartName="/ppt/slides/slide1.xml" ContentType="application/vnd.openxmlformats-officedocument.presentationml.slide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Slides/_rels/notesSlide7.xml.rels" ContentType="application/vnd.openxmlformats-package.relationships+xml"/>
  <Override PartName="/ppt/notesSlides/_rels/notesSlide6.xml.rels" ContentType="application/vnd.openxmlformats-package.relationships+xml"/>
  <Override PartName="/ppt/notesSlides/_rels/notesSlide2.xml.rels" ContentType="application/vnd.openxmlformats-package.relationships+xml"/>
  <Override PartName="/ppt/notesSlides/notesSlide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  <p:sldMasterId id="2147483670" r:id="rId13"/>
    <p:sldMasterId id="2147483672" r:id="rId14"/>
  </p:sldMasterIdLst>
  <p:notesMasterIdLst>
    <p:notesMasterId r:id="rId15"/>
  </p:notesMasterIdLst>
  <p:sldIdLst>
    <p:sldId id="256" r:id="rId16"/>
    <p:sldId id="257" r:id="rId17"/>
    <p:sldId id="258" r:id="rId18"/>
    <p:sldId id="259" r:id="rId19"/>
    <p:sldId id="260" r:id="rId20"/>
    <p:sldId id="261" r:id="rId21"/>
    <p:sldId id="262" r:id="rId22"/>
  </p:sldIdLst>
  <p:sldSz cx="9144000" cy="6858000"/>
  <p:notesSz cx="7010400" cy="9296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Master" Target="slideMasters/slideMaster13.xml"/><Relationship Id="rId15" Type="http://schemas.openxmlformats.org/officeDocument/2006/relationships/notesMaster" Target="notesMasters/notesMaster1.xml"/><Relationship Id="rId16" Type="http://schemas.openxmlformats.org/officeDocument/2006/relationships/slide" Target="slides/slide1.xml"/><Relationship Id="rId17" Type="http://schemas.openxmlformats.org/officeDocument/2006/relationships/slide" Target="slides/slide2.xml"/><Relationship Id="rId18" Type="http://schemas.openxmlformats.org/officeDocument/2006/relationships/slide" Target="slides/slide3.xml"/><Relationship Id="rId19" Type="http://schemas.openxmlformats.org/officeDocument/2006/relationships/slide" Target="slides/slide4.xml"/><Relationship Id="rId20" Type="http://schemas.openxmlformats.org/officeDocument/2006/relationships/slide" Target="slides/slide5.xml"/><Relationship Id="rId21" Type="http://schemas.openxmlformats.org/officeDocument/2006/relationships/slide" Target="slides/slide6.xml"/><Relationship Id="rId22" Type="http://schemas.openxmlformats.org/officeDocument/2006/relationships/slide" Target="slides/slide7.xml"/><Relationship Id="rId23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4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sldImg"/>
          </p:nvPr>
        </p:nvSpPr>
        <p:spPr>
          <a:xfrm>
            <a:off x="0" y="76428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move the slide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Noto Serif CJK KR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 type="dt" idx="37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Noto Serif CJK KR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Noto Serif CJK KR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63" name="PlaceHolder 5"/>
          <p:cNvSpPr>
            <a:spLocks noGrp="1"/>
          </p:cNvSpPr>
          <p:nvPr>
            <p:ph type="ftr" idx="38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Noto Serif CJK KR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Noto Serif CJK KR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64" name="PlaceHolder 6"/>
          <p:cNvSpPr>
            <a:spLocks noGrp="1"/>
          </p:cNvSpPr>
          <p:nvPr>
            <p:ph type="sldNum" idx="39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Noto Serif CJK KR"/>
              </a:defRPr>
            </a:lvl1pPr>
          </a:lstStyle>
          <a:p>
            <a:pPr indent="0" algn="r">
              <a:buNone/>
            </a:pPr>
            <a:fld id="{11F04F7D-1C2E-4400-83D1-2811D7E119A0}" type="slidenum">
              <a:rPr b="0" lang="en-US" sz="1400" spc="-1" strike="noStrike">
                <a:solidFill>
                  <a:srgbClr val="000000"/>
                </a:solidFill>
                <a:latin typeface="Noto Serif CJK KR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Noto Serif CJK KR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PlaceHolder 1"/>
          <p:cNvSpPr>
            <a:spLocks noGrp="1"/>
          </p:cNvSpPr>
          <p:nvPr>
            <p:ph type="sldImg"/>
          </p:nvPr>
        </p:nvSpPr>
        <p:spPr>
          <a:xfrm>
            <a:off x="1371600" y="1143000"/>
            <a:ext cx="4114440" cy="3085920"/>
          </a:xfrm>
          <a:prstGeom prst="rect">
            <a:avLst/>
          </a:prstGeom>
          <a:ln w="0">
            <a:noFill/>
          </a:ln>
        </p:spPr>
      </p:sp>
      <p:sp>
        <p:nvSpPr>
          <p:cNvPr id="13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Others = 1783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Vodka = 534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Gin = 369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Orange Juice = 243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Kahlua &amp; Irish creasm = 152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PlaceHolder 3"/>
          <p:cNvSpPr>
            <a:spLocks noGrp="1"/>
          </p:cNvSpPr>
          <p:nvPr>
            <p:ph type="sldNum" idx="4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1E22321-72DF-48FD-9E34-2A7751B9533A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Noto Serif CJK KR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PlaceHolder 1"/>
          <p:cNvSpPr>
            <a:spLocks noGrp="1"/>
          </p:cNvSpPr>
          <p:nvPr>
            <p:ph type="sldImg"/>
          </p:nvPr>
        </p:nvSpPr>
        <p:spPr>
          <a:xfrm>
            <a:off x="1371600" y="1143000"/>
            <a:ext cx="4114440" cy="3085920"/>
          </a:xfrm>
          <a:prstGeom prst="rect">
            <a:avLst/>
          </a:prstGeom>
          <a:ln w="0">
            <a:noFill/>
          </a:ln>
        </p:spPr>
      </p:sp>
      <p:sp>
        <p:nvSpPr>
          <p:cNvPr id="13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Others = 1783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Vodka = 534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Gin = 369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Orange Juice = 243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Kahlua &amp; Irish creasm = 152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PlaceHolder 3"/>
          <p:cNvSpPr>
            <a:spLocks noGrp="1"/>
          </p:cNvSpPr>
          <p:nvPr>
            <p:ph type="sldNum" idx="4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9E50549-0DD0-43D1-8F8C-8995E2656F44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Noto Serif CJK KR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Rectangle 7"/>
          <p:cNvSpPr/>
          <p:nvPr/>
        </p:nvSpPr>
        <p:spPr>
          <a:xfrm>
            <a:off x="3972240" y="8832240"/>
            <a:ext cx="3037320" cy="46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3240" rIns="93240" tIns="46800" bIns="46800" anchor="b">
            <a:noAutofit/>
          </a:bodyPr>
          <a:p>
            <a:pPr algn="r" defTabSz="968400">
              <a:lnSpc>
                <a:spcPct val="100000"/>
              </a:lnSpc>
            </a:pPr>
            <a:fld id="{D1F5710A-55AB-4CA2-B234-878432B330A3}" type="slidenum">
              <a:rPr b="0" lang="en-US" sz="1200" spc="-1" strike="noStrike">
                <a:solidFill>
                  <a:schemeClr val="dk1"/>
                </a:solidFill>
                <a:latin typeface="Times New Roman"/>
                <a:ea typeface="굴림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PlaceHolder 1"/>
          <p:cNvSpPr>
            <a:spLocks noGrp="1"/>
          </p:cNvSpPr>
          <p:nvPr>
            <p:ph type="sldImg"/>
          </p:nvPr>
        </p:nvSpPr>
        <p:spPr>
          <a:xfrm>
            <a:off x="1182600" y="696960"/>
            <a:ext cx="4644360" cy="3483720"/>
          </a:xfrm>
          <a:prstGeom prst="rect">
            <a:avLst/>
          </a:prstGeom>
          <a:ln w="0">
            <a:noFill/>
          </a:ln>
        </p:spPr>
      </p:sp>
      <p:sp>
        <p:nvSpPr>
          <p:cNvPr id="143" name="PlaceHolder 2"/>
          <p:cNvSpPr>
            <a:spLocks noGrp="1"/>
          </p:cNvSpPr>
          <p:nvPr>
            <p:ph type="body"/>
          </p:nvPr>
        </p:nvSpPr>
        <p:spPr>
          <a:xfrm>
            <a:off x="700920" y="4415760"/>
            <a:ext cx="5607720" cy="4182840"/>
          </a:xfrm>
          <a:prstGeom prst="rect">
            <a:avLst/>
          </a:prstGeom>
          <a:noFill/>
          <a:ln w="0">
            <a:noFill/>
          </a:ln>
        </p:spPr>
        <p:txBody>
          <a:bodyPr lIns="93240" rIns="93240" tIns="46800" bIns="468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3945A6A9-9587-40C3-A68D-E623E802459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ko-K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D48F52B9-C643-4068-A7B8-C14C47A4C9E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ko-KR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1C7D6790-034B-4936-A684-2E0AEA331B9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ko-KR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06DDA838-B1CA-4855-818C-3CB29311CAC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ko-KR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259EF7CD-011C-449E-836B-1A56EDB4E32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ko-KR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5702D917-306D-42F0-B871-81A8044E62A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ko-KR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F6D6B355-8144-41BA-A218-839BCB023EE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1"/>
          </p:nvPr>
        </p:nvSpPr>
        <p:spPr/>
        <p:txBody>
          <a:bodyPr/>
          <a:p>
            <a:r>
              <a:rPr lang="ko-KR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869640DD-F8C8-4E3E-9B18-5665FAAC9E7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4"/>
          </p:nvPr>
        </p:nvSpPr>
        <p:spPr/>
        <p:txBody>
          <a:bodyPr/>
          <a:p>
            <a:r>
              <a:rPr lang="ko-KR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4F489167-12E9-480D-96CE-5A4AF8F1782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7"/>
          </p:nvPr>
        </p:nvSpPr>
        <p:spPr/>
        <p:txBody>
          <a:bodyPr/>
          <a:p>
            <a:r>
              <a:rPr lang="ko-KR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9"/>
          </p:nvPr>
        </p:nvSpPr>
        <p:spPr/>
        <p:txBody>
          <a:bodyPr/>
          <a:p>
            <a:fld id="{AF2D0B62-017B-4EEC-A946-A4035F96223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0"/>
          </p:nvPr>
        </p:nvSpPr>
        <p:spPr/>
        <p:txBody>
          <a:bodyPr/>
          <a:p>
            <a:r>
              <a:rPr lang="ko-KR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2"/>
          </p:nvPr>
        </p:nvSpPr>
        <p:spPr/>
        <p:txBody>
          <a:bodyPr/>
          <a:p>
            <a:fld id="{02BA4F41-45D6-4FEF-9DF3-912508D0290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3"/>
          </p:nvPr>
        </p:nvSpPr>
        <p:spPr/>
        <p:txBody>
          <a:bodyPr/>
          <a:p>
            <a:r>
              <a:rPr lang="ko-KR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3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6"/>
          </p:nvPr>
        </p:nvSpPr>
        <p:spPr/>
        <p:txBody>
          <a:bodyPr/>
          <a:p>
            <a:fld id="{7B45C372-2439-413C-8F71-713E7CC951E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4"/>
          </p:nvPr>
        </p:nvSpPr>
        <p:spPr/>
        <p:txBody>
          <a:bodyPr/>
          <a:p>
            <a:r>
              <a:rPr lang="ko-K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slideLayout" Target="../slideLayouts/slideLayout12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13.xml"/><Relationship Id="rId2" Type="http://schemas.openxmlformats.org/officeDocument/2006/relationships/slideLayout" Target="../slideLayouts/slideLayout13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88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edit the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title text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1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Noto Serif CJK KR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Noto Serif CJK KR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2"/>
          </p:nvPr>
        </p:nvSpPr>
        <p:spPr>
          <a:xfrm>
            <a:off x="7000920" y="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0351E91-191D-4FD6-BCF8-5DC744282BEE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3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Noto Serif CJK KR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Noto Serif CJK KR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Noto Serif CJK KR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ftr" idx="4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Noto Serif CJK KR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Noto Serif CJK KR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sldNum" idx="5"/>
          </p:nvPr>
        </p:nvSpPr>
        <p:spPr>
          <a:xfrm>
            <a:off x="7000920" y="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49D89D3-1398-4872-A31C-BC5D44344F28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6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Noto Serif CJK KR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Noto Serif CJK KR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Noto Serif CJK KR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ftr" idx="7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Noto Serif CJK KR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Noto Serif CJK KR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sldNum" idx="8"/>
          </p:nvPr>
        </p:nvSpPr>
        <p:spPr>
          <a:xfrm>
            <a:off x="7000920" y="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9BC7BC8-FA75-4AF3-8C55-D974BCE9887B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dt" idx="9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Noto Serif CJK KR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Noto Serif CJK KR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Noto Serif CJK KR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ic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k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to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dit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th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e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titl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e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te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xt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fo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r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m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88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88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ftr" idx="10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Noto Serif CJK KR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Noto Serif CJK KR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sldNum" idx="11"/>
          </p:nvPr>
        </p:nvSpPr>
        <p:spPr>
          <a:xfrm>
            <a:off x="7000920" y="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F597316-0822-420A-91FE-70C05000BB3C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18" name="PlaceHolder 5"/>
          <p:cNvSpPr>
            <a:spLocks noGrp="1"/>
          </p:cNvSpPr>
          <p:nvPr>
            <p:ph type="dt" idx="12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Noto Serif CJK KR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Noto Serif CJK KR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Noto Serif CJK KR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ftr" idx="13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Noto Serif CJK KR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Noto Serif CJK KR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sldNum" idx="14"/>
          </p:nvPr>
        </p:nvSpPr>
        <p:spPr>
          <a:xfrm>
            <a:off x="7000920" y="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B6C7FA8-9B14-483C-ADEE-67F859433BB9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5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Noto Serif CJK KR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Noto Serif CJK KR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Noto Serif CJK KR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88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44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44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ftr" idx="16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Noto Serif CJK KR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Noto Serif CJK KR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28" name="PlaceHolder 5"/>
          <p:cNvSpPr>
            <a:spLocks noGrp="1"/>
          </p:cNvSpPr>
          <p:nvPr>
            <p:ph type="sldNum" idx="17"/>
          </p:nvPr>
        </p:nvSpPr>
        <p:spPr>
          <a:xfrm>
            <a:off x="7000920" y="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B41B0EF-5684-4A3B-841B-E079AC45AA5F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29" name="PlaceHolder 6"/>
          <p:cNvSpPr>
            <a:spLocks noGrp="1"/>
          </p:cNvSpPr>
          <p:nvPr>
            <p:ph type="dt" idx="18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Noto Serif CJK KR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Noto Serif CJK KR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Noto Serif CJK KR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ftr" idx="19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Noto Serif CJK KR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Noto Serif CJK KR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sldNum" idx="20"/>
          </p:nvPr>
        </p:nvSpPr>
        <p:spPr>
          <a:xfrm>
            <a:off x="7000920" y="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F36AE6F-A762-4450-84E0-A5AA7FFE4E11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dt" idx="21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Noto Serif CJK KR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Noto Serif CJK KR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Noto Serif CJK KR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88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ftr" idx="22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Noto Serif CJK KR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Noto Serif CJK KR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 type="sldNum" idx="23"/>
          </p:nvPr>
        </p:nvSpPr>
        <p:spPr>
          <a:xfrm>
            <a:off x="7000920" y="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31087FF-C417-4D40-823F-507B31561668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39" name="PlaceHolder 4"/>
          <p:cNvSpPr>
            <a:spLocks noGrp="1"/>
          </p:cNvSpPr>
          <p:nvPr>
            <p:ph type="dt" idx="24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Noto Serif CJK KR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Noto Serif CJK KR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Noto Serif CJK KR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ftr" idx="25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Noto Serif CJK KR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Noto Serif CJK KR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sldNum" idx="26"/>
          </p:nvPr>
        </p:nvSpPr>
        <p:spPr>
          <a:xfrm>
            <a:off x="6553080" y="632448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C878B51-7253-490C-8984-4E921B641D2F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dt" idx="27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Noto Serif CJK KR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Noto Serif CJK KR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ftr" idx="28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Noto Serif CJK KR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Noto Serif CJK KR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ldNum" idx="29"/>
          </p:nvPr>
        </p:nvSpPr>
        <p:spPr>
          <a:xfrm>
            <a:off x="7000920" y="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1ECE05B-F489-4503-81BD-4FDBAE868629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dt" idx="30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Noto Serif CJK KR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Noto Serif CJK KR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Noto Serif CJK KR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ftr" idx="31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Noto Serif CJK KR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Noto Serif CJK KR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sldNum" idx="32"/>
          </p:nvPr>
        </p:nvSpPr>
        <p:spPr>
          <a:xfrm>
            <a:off x="7000920" y="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67C9C5D-747F-4D85-938E-0B3CD106AC37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dt" idx="33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Noto Serif CJK KR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Noto Serif CJK KR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Noto Serif CJK KR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1" r:id="rId2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1143000" y="1122480"/>
            <a:ext cx="6857640" cy="23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685800">
              <a:lnSpc>
                <a:spcPct val="90000"/>
              </a:lnSpc>
              <a:buNone/>
            </a:pPr>
            <a:r>
              <a:rPr b="0" lang="ko-KR" sz="4500" spc="-1" strike="noStrike">
                <a:solidFill>
                  <a:schemeClr val="dk1"/>
                </a:solidFill>
                <a:latin typeface="맑은 고딕"/>
              </a:rPr>
              <a:t>마스터 제목 스타일 편집</a:t>
            </a:r>
            <a:endParaRPr b="0" lang="en-US" sz="4500" spc="-1" strike="noStrike">
              <a:solidFill>
                <a:schemeClr val="dk1"/>
              </a:solidFill>
              <a:latin typeface="맑은 고딕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dt" idx="34"/>
          </p:nvPr>
        </p:nvSpPr>
        <p:spPr>
          <a:xfrm>
            <a:off x="628560" y="6356520"/>
            <a:ext cx="20570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900" spc="-1" strike="noStrike">
                <a:solidFill>
                  <a:schemeClr val="dk1">
                    <a:tint val="75000"/>
                  </a:schemeClr>
                </a:solidFill>
                <a:latin typeface="맑은 고딕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chemeClr val="dk1">
                    <a:tint val="75000"/>
                  </a:schemeClr>
                </a:solidFill>
                <a:latin typeface="맑은 고딕"/>
              </a:rPr>
              <a:t>&lt;date/time&gt;</a:t>
            </a:r>
            <a:endParaRPr b="0" lang="en-US" sz="9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 type="ftr" idx="35"/>
          </p:nvPr>
        </p:nvSpPr>
        <p:spPr>
          <a:xfrm>
            <a:off x="3029040" y="6356520"/>
            <a:ext cx="30859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Noto Serif CJK KR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Noto Serif CJK KR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55" name="PlaceHolder 4"/>
          <p:cNvSpPr>
            <a:spLocks noGrp="1"/>
          </p:cNvSpPr>
          <p:nvPr>
            <p:ph type="sldNum" idx="36"/>
          </p:nvPr>
        </p:nvSpPr>
        <p:spPr>
          <a:xfrm>
            <a:off x="6458040" y="6356520"/>
            <a:ext cx="20570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900" spc="-1" strike="noStrike">
                <a:solidFill>
                  <a:schemeClr val="dk1">
                    <a:tint val="75000"/>
                  </a:schemeClr>
                </a:solidFill>
                <a:latin typeface="맑은 고딕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8E05212-4713-4A68-A63F-5CBADD892ACF}" type="slidenum">
              <a:rPr b="0" lang="en-US" sz="900" spc="-1" strike="noStrike">
                <a:solidFill>
                  <a:schemeClr val="dk1">
                    <a:tint val="75000"/>
                  </a:schemeClr>
                </a:solidFill>
                <a:latin typeface="맑은 고딕"/>
              </a:rPr>
              <a:t>&lt;number&gt;</a:t>
            </a:fld>
            <a:endParaRPr b="0" lang="en-US" sz="9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56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100" spc="-1" strike="noStrike">
                <a:solidFill>
                  <a:schemeClr val="dk1"/>
                </a:solidFill>
                <a:latin typeface="맑은 고딕"/>
              </a:rPr>
              <a:t>Click to edit the outline text format</a:t>
            </a:r>
            <a:endParaRPr b="0" lang="en-US" sz="2100" spc="-1" strike="noStrike">
              <a:solidFill>
                <a:schemeClr val="dk1"/>
              </a:solidFill>
              <a:latin typeface="맑은 고딕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500" spc="-1" strike="noStrike">
                <a:solidFill>
                  <a:schemeClr val="dk1"/>
                </a:solidFill>
                <a:latin typeface="맑은 고딕"/>
              </a:rPr>
              <a:t>Second Outline Level</a:t>
            </a:r>
            <a:endParaRPr b="0" lang="en-US" sz="1500" spc="-1" strike="noStrike">
              <a:solidFill>
                <a:schemeClr val="dk1"/>
              </a:solidFill>
              <a:latin typeface="맑은 고딕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350" spc="-1" strike="noStrike">
                <a:solidFill>
                  <a:schemeClr val="dk1"/>
                </a:solidFill>
                <a:latin typeface="맑은 고딕"/>
              </a:rPr>
              <a:t>Third Outline Level</a:t>
            </a:r>
            <a:endParaRPr b="0" lang="en-US" sz="1350" spc="-1" strike="noStrike">
              <a:solidFill>
                <a:schemeClr val="dk1"/>
              </a:solidFill>
              <a:latin typeface="맑은 고딕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350" spc="-1" strike="noStrike">
                <a:solidFill>
                  <a:schemeClr val="dk1"/>
                </a:solidFill>
                <a:latin typeface="맑은 고딕"/>
              </a:rPr>
              <a:t>Fourth Outline Level</a:t>
            </a:r>
            <a:endParaRPr b="0" lang="en-US" sz="1350" spc="-1" strike="noStrike">
              <a:solidFill>
                <a:schemeClr val="dk1"/>
              </a:solidFill>
              <a:latin typeface="맑은 고딕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맑은 고딕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맑은 고딕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맑은 고딕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맑은 고딕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맑은 고딕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맑은 고딕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3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hyperlink" Target="https://github.com/swkim94/cocktail" TargetMode="External"/><Relationship Id="rId2" Type="http://schemas.openxmlformats.org/officeDocument/2006/relationships/hyperlink" Target="mailto:swkim94@gmail.com" TargetMode="External"/><Relationship Id="rId3" Type="http://schemas.openxmlformats.org/officeDocument/2006/relationships/hyperlink" Target="https://www.linkedin.com/in/sangwoo-kim/" TargetMode="External"/><Relationship Id="rId4" Type="http://schemas.openxmlformats.org/officeDocument/2006/relationships/slideLayout" Target="../slideLayouts/slideLayout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hyperlink" Target="http://www.thecocktaildb.com/" TargetMode="Externa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slideLayout" Target="../slideLayouts/slideLayout1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Relationship Id="rId7" Type="http://schemas.openxmlformats.org/officeDocument/2006/relationships/slideLayout" Target="../slideLayouts/slideLayout1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slideLayout" Target="../slideLayouts/slideLayout1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Rectangle 42"/>
          <p:cNvSpPr/>
          <p:nvPr/>
        </p:nvSpPr>
        <p:spPr>
          <a:xfrm>
            <a:off x="1093320" y="2125080"/>
            <a:ext cx="7006680" cy="273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US" sz="4400" spc="-1" strike="noStrike">
                <a:solidFill>
                  <a:schemeClr val="dk1"/>
                </a:solidFill>
                <a:latin typeface="Calibri"/>
              </a:rPr>
              <a:t>Python Example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hlinkClick r:id="rId1"/>
              </a:rPr>
              <a:t>https://github.com/swkim94/cocktail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1" lang="en-US" sz="4400" spc="-1" strike="noStrike">
                <a:solidFill>
                  <a:schemeClr val="dk1"/>
                </a:solidFill>
                <a:latin typeface="Calibri"/>
              </a:rPr>
              <a:t>Sangwoo Kim 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  <a:hlinkClick r:id="rId2"/>
              </a:rPr>
              <a:t>swkim94@gmail.com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  <a:hlinkClick r:id="rId3"/>
              </a:rPr>
              <a:t>https://www.linkedin.com/in/sangwoo-kim/</a:t>
            </a: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20"/>
          <p:cNvSpPr/>
          <p:nvPr/>
        </p:nvSpPr>
        <p:spPr>
          <a:xfrm>
            <a:off x="1106280" y="196920"/>
            <a:ext cx="689076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"/>
          <p:cNvSpPr txBox="1"/>
          <p:nvPr/>
        </p:nvSpPr>
        <p:spPr>
          <a:xfrm>
            <a:off x="360000" y="1260000"/>
            <a:ext cx="8460000" cy="4329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216000" indent="-216000">
              <a:lnSpc>
                <a:spcPct val="100000"/>
              </a:lnSpc>
              <a:spcBef>
                <a:spcPts val="850"/>
              </a:spcBef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Summary</a:t>
            </a:r>
            <a:endParaRPr b="0" lang="en-US" sz="3200" spc="-1" strike="noStrike">
              <a:solidFill>
                <a:srgbClr val="000000"/>
              </a:solidFill>
              <a:latin typeface="Arial"/>
              <a:ea typeface="Noto Sans CJK KR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Noto Sans CJK KR"/>
              </a:rPr>
              <a:t>Python Proficiency: 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Noto Sans CJK KR"/>
              </a:rPr>
              <a:t>Demonstrates core programming competency and data engineering depth.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Noto Sans CJK KR"/>
              </a:rPr>
              <a:t>API Data Collection: 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Noto Sans CJK KR"/>
              </a:rPr>
              <a:t>Fetches and parses raw dataset using a public API.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Noto Sans CJK KR"/>
              </a:rPr>
              <a:t>Text Vectorization: 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Noto Sans CJK KR"/>
              </a:rPr>
              <a:t>Transforms unstructured data into numeric vectors for analysis.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Noto Sans CJK KR"/>
              </a:rPr>
              <a:t>Dimensionality Reduction: 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Noto Sans CJK KR"/>
              </a:rPr>
              <a:t>Implements PCA to reduce feature space and compress data.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Noto Sans CJK KR"/>
              </a:rPr>
              <a:t>Cluster Separation: 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Noto Sans CJK KR"/>
              </a:rPr>
              <a:t>Groups data points cleanly using K-Nearest Neighbors (KNN).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Noto Sans CJK KR"/>
              </a:rPr>
              <a:t>Custom Visualizations: 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Noto Sans CJK KR"/>
              </a:rPr>
              <a:t>Generates explanatory histograms and PCA-mapped cluster plots.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Noto Sans CJK KR"/>
              </a:rPr>
              <a:t>Hardware Automation Note: 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Noto Sans CJK KR"/>
              </a:rPr>
              <a:t>my background in instrument automation relies on LabVIEW.</a:t>
            </a: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Noto Sans CJK KR"/>
              </a:rPr>
              <a:t> 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Noto Sans CJK KR"/>
              </a:rPr>
              <a:t>Source code: 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Noto Sans CJK KR"/>
              </a:rPr>
              <a:t>Fully open-source repository hosted at https://github.com/swkim94/cocktail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그림 7" descr=""/>
          <p:cNvPicPr/>
          <p:nvPr/>
        </p:nvPicPr>
        <p:blipFill>
          <a:blip r:embed="rId1"/>
          <a:stretch/>
        </p:blipFill>
        <p:spPr>
          <a:xfrm>
            <a:off x="836280" y="1209960"/>
            <a:ext cx="3456720" cy="604080"/>
          </a:xfrm>
          <a:prstGeom prst="rect">
            <a:avLst/>
          </a:prstGeom>
          <a:ln w="0">
            <a:noFill/>
          </a:ln>
        </p:spPr>
      </p:pic>
      <p:sp>
        <p:nvSpPr>
          <p:cNvPr id="69" name="오른쪽 화살표 2"/>
          <p:cNvSpPr/>
          <p:nvPr/>
        </p:nvSpPr>
        <p:spPr>
          <a:xfrm>
            <a:off x="4617720" y="927000"/>
            <a:ext cx="766080" cy="11898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맑은 고딕"/>
            </a:endParaRPr>
          </a:p>
        </p:txBody>
      </p:sp>
      <p:sp>
        <p:nvSpPr>
          <p:cNvPr id="70" name="TextBox 4"/>
          <p:cNvSpPr/>
          <p:nvPr/>
        </p:nvSpPr>
        <p:spPr>
          <a:xfrm>
            <a:off x="5501160" y="1045080"/>
            <a:ext cx="3045240" cy="94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US" sz="2800" spc="-1" strike="noStrike">
                <a:solidFill>
                  <a:schemeClr val="dk1"/>
                </a:solidFill>
                <a:latin typeface="맑은 고딕"/>
              </a:rPr>
              <a:t>3081</a:t>
            </a:r>
            <a:r>
              <a:rPr b="0" lang="en-US" sz="2800" spc="-1" strike="noStrike">
                <a:solidFill>
                  <a:schemeClr val="dk1"/>
                </a:solidFill>
                <a:latin typeface="맑은 고딕"/>
              </a:rPr>
              <a:t> cocktails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1" lang="en-US" sz="2800" spc="-1" strike="noStrike">
                <a:solidFill>
                  <a:schemeClr val="dk1"/>
                </a:solidFill>
                <a:latin typeface="맑은 고딕"/>
              </a:rPr>
              <a:t>416</a:t>
            </a:r>
            <a:r>
              <a:rPr b="0" lang="en-US" sz="2800" spc="-1" strike="noStrike">
                <a:solidFill>
                  <a:schemeClr val="dk1"/>
                </a:solidFill>
                <a:latin typeface="맑은 고딕"/>
              </a:rPr>
              <a:t> ingredients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직사각형 1"/>
          <p:cNvSpPr/>
          <p:nvPr/>
        </p:nvSpPr>
        <p:spPr>
          <a:xfrm>
            <a:off x="717840" y="1810800"/>
            <a:ext cx="3570480" cy="40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Verdana"/>
              </a:rPr>
              <a:t> </a:t>
            </a:r>
            <a:r>
              <a:rPr b="0" lang="en-US" sz="1800" spc="-1" strike="noStrike" u="sng">
                <a:solidFill>
                  <a:srgbClr val="0563c1"/>
                </a:solidFill>
                <a:uFillTx/>
                <a:latin typeface="Verdana"/>
                <a:hlinkClick r:id="rId2"/>
              </a:rPr>
              <a:t>http://www.TheCocktailDB.com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2" name="그림 13" descr=""/>
          <p:cNvPicPr/>
          <p:nvPr/>
        </p:nvPicPr>
        <p:blipFill>
          <a:blip r:embed="rId3"/>
          <a:stretch/>
        </p:blipFill>
        <p:spPr>
          <a:xfrm>
            <a:off x="1529280" y="2401920"/>
            <a:ext cx="5941080" cy="4455720"/>
          </a:xfrm>
          <a:prstGeom prst="rect">
            <a:avLst/>
          </a:prstGeom>
          <a:ln w="0">
            <a:noFill/>
          </a:ln>
        </p:spPr>
      </p:pic>
      <p:sp>
        <p:nvSpPr>
          <p:cNvPr id="73" name="TextBox 5"/>
          <p:cNvSpPr/>
          <p:nvPr/>
        </p:nvSpPr>
        <p:spPr>
          <a:xfrm>
            <a:off x="2332800" y="2558520"/>
            <a:ext cx="503424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en-US" sz="2800" spc="-1" strike="noStrike">
                <a:solidFill>
                  <a:schemeClr val="dk1"/>
                </a:solidFill>
                <a:latin typeface="맑은 고딕"/>
              </a:rPr>
              <a:t>10 most popular </a:t>
            </a:r>
            <a:r>
              <a:rPr b="0" lang="en-US" sz="2800" spc="-1" strike="noStrike">
                <a:solidFill>
                  <a:schemeClr val="dk1"/>
                </a:solidFill>
                <a:latin typeface="맑은 고딕"/>
              </a:rPr>
              <a:t>ingredients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4" name="그림 14" descr=""/>
          <p:cNvPicPr/>
          <p:nvPr/>
        </p:nvPicPr>
        <p:blipFill>
          <a:blip r:embed="rId4"/>
          <a:stretch/>
        </p:blipFill>
        <p:spPr>
          <a:xfrm>
            <a:off x="1871640" y="5515920"/>
            <a:ext cx="270720" cy="749160"/>
          </a:xfrm>
          <a:prstGeom prst="rect">
            <a:avLst/>
          </a:prstGeom>
          <a:ln w="0">
            <a:noFill/>
          </a:ln>
        </p:spPr>
      </p:pic>
      <p:pic>
        <p:nvPicPr>
          <p:cNvPr id="75" name="그림 15" descr=""/>
          <p:cNvPicPr/>
          <p:nvPr/>
        </p:nvPicPr>
        <p:blipFill>
          <a:blip r:embed="rId5"/>
          <a:stretch/>
        </p:blipFill>
        <p:spPr>
          <a:xfrm>
            <a:off x="2383560" y="5811480"/>
            <a:ext cx="358920" cy="451800"/>
          </a:xfrm>
          <a:prstGeom prst="rect">
            <a:avLst/>
          </a:prstGeom>
          <a:ln w="0">
            <a:noFill/>
          </a:ln>
        </p:spPr>
      </p:pic>
      <p:pic>
        <p:nvPicPr>
          <p:cNvPr id="76" name="그림 16" descr=""/>
          <p:cNvPicPr/>
          <p:nvPr/>
        </p:nvPicPr>
        <p:blipFill>
          <a:blip r:embed="rId6"/>
          <a:stretch/>
        </p:blipFill>
        <p:spPr>
          <a:xfrm>
            <a:off x="3033000" y="5791320"/>
            <a:ext cx="211320" cy="492480"/>
          </a:xfrm>
          <a:prstGeom prst="rect">
            <a:avLst/>
          </a:prstGeom>
          <a:ln w="0">
            <a:noFill/>
          </a:ln>
        </p:spPr>
      </p:pic>
      <p:pic>
        <p:nvPicPr>
          <p:cNvPr id="77" name="그림 17" descr=""/>
          <p:cNvPicPr/>
          <p:nvPr/>
        </p:nvPicPr>
        <p:blipFill>
          <a:blip r:embed="rId7"/>
          <a:stretch/>
        </p:blipFill>
        <p:spPr>
          <a:xfrm>
            <a:off x="3608280" y="5827680"/>
            <a:ext cx="195840" cy="478800"/>
          </a:xfrm>
          <a:prstGeom prst="rect">
            <a:avLst/>
          </a:prstGeom>
          <a:ln w="0">
            <a:noFill/>
          </a:ln>
        </p:spPr>
      </p:pic>
      <p:pic>
        <p:nvPicPr>
          <p:cNvPr id="78" name="그림 18" descr=""/>
          <p:cNvPicPr/>
          <p:nvPr/>
        </p:nvPicPr>
        <p:blipFill>
          <a:blip r:embed="rId8"/>
          <a:stretch/>
        </p:blipFill>
        <p:spPr>
          <a:xfrm>
            <a:off x="5321880" y="5703840"/>
            <a:ext cx="178920" cy="629640"/>
          </a:xfrm>
          <a:prstGeom prst="rect">
            <a:avLst/>
          </a:prstGeom>
          <a:ln w="0">
            <a:noFill/>
          </a:ln>
        </p:spPr>
      </p:pic>
      <p:pic>
        <p:nvPicPr>
          <p:cNvPr id="79" name="그림 19" descr=""/>
          <p:cNvPicPr/>
          <p:nvPr/>
        </p:nvPicPr>
        <p:blipFill>
          <a:blip r:embed="rId9"/>
          <a:stretch/>
        </p:blipFill>
        <p:spPr>
          <a:xfrm>
            <a:off x="4749840" y="5648760"/>
            <a:ext cx="200160" cy="684720"/>
          </a:xfrm>
          <a:prstGeom prst="rect">
            <a:avLst/>
          </a:prstGeom>
          <a:ln w="0">
            <a:noFill/>
          </a:ln>
        </p:spPr>
      </p:pic>
      <p:pic>
        <p:nvPicPr>
          <p:cNvPr id="80" name="그림 20" descr=""/>
          <p:cNvPicPr/>
          <p:nvPr/>
        </p:nvPicPr>
        <p:blipFill>
          <a:blip r:embed="rId10"/>
          <a:stretch/>
        </p:blipFill>
        <p:spPr>
          <a:xfrm>
            <a:off x="4154400" y="6024240"/>
            <a:ext cx="258120" cy="298440"/>
          </a:xfrm>
          <a:prstGeom prst="rect">
            <a:avLst/>
          </a:prstGeom>
          <a:ln w="0">
            <a:noFill/>
          </a:ln>
        </p:spPr>
      </p:pic>
      <p:pic>
        <p:nvPicPr>
          <p:cNvPr id="81" name="그림 21" descr=""/>
          <p:cNvPicPr/>
          <p:nvPr/>
        </p:nvPicPr>
        <p:blipFill>
          <a:blip r:embed="rId11"/>
          <a:stretch/>
        </p:blipFill>
        <p:spPr>
          <a:xfrm>
            <a:off x="5846760" y="5753520"/>
            <a:ext cx="293400" cy="530640"/>
          </a:xfrm>
          <a:prstGeom prst="rect">
            <a:avLst/>
          </a:prstGeom>
          <a:ln w="0">
            <a:noFill/>
          </a:ln>
        </p:spPr>
      </p:pic>
      <p:pic>
        <p:nvPicPr>
          <p:cNvPr id="82" name="그림 22" descr=""/>
          <p:cNvPicPr/>
          <p:nvPr/>
        </p:nvPicPr>
        <p:blipFill>
          <a:blip r:embed="rId12"/>
          <a:stretch/>
        </p:blipFill>
        <p:spPr>
          <a:xfrm>
            <a:off x="6465240" y="5698800"/>
            <a:ext cx="182160" cy="675000"/>
          </a:xfrm>
          <a:prstGeom prst="rect">
            <a:avLst/>
          </a:prstGeom>
          <a:ln w="0">
            <a:noFill/>
          </a:ln>
        </p:spPr>
      </p:pic>
      <p:pic>
        <p:nvPicPr>
          <p:cNvPr id="83" name="그림 23" descr=""/>
          <p:cNvPicPr/>
          <p:nvPr/>
        </p:nvPicPr>
        <p:blipFill>
          <a:blip r:embed="rId13"/>
          <a:stretch/>
        </p:blipFill>
        <p:spPr>
          <a:xfrm>
            <a:off x="6999120" y="5735880"/>
            <a:ext cx="250920" cy="638280"/>
          </a:xfrm>
          <a:prstGeom prst="rect">
            <a:avLst/>
          </a:prstGeom>
          <a:ln w="0">
            <a:noFill/>
          </a:ln>
        </p:spPr>
      </p:pic>
      <p:sp>
        <p:nvSpPr>
          <p:cNvPr id="84" name="TextBox 6"/>
          <p:cNvSpPr/>
          <p:nvPr/>
        </p:nvSpPr>
        <p:spPr>
          <a:xfrm>
            <a:off x="289800" y="201960"/>
            <a:ext cx="825696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en-US" sz="2800" spc="-1" strike="noStrike">
                <a:solidFill>
                  <a:schemeClr val="dk1"/>
                </a:solidFill>
                <a:latin typeface="맑은 고딕"/>
              </a:rPr>
              <a:t>Slide#1: Import Data, Build Pandas Dataframe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직사각형 2"/>
          <p:cNvSpPr/>
          <p:nvPr/>
        </p:nvSpPr>
        <p:spPr>
          <a:xfrm>
            <a:off x="1529280" y="2401920"/>
            <a:ext cx="185400" cy="4307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맑은 고딕"/>
            </a:endParaRPr>
          </a:p>
        </p:txBody>
      </p:sp>
      <p:sp>
        <p:nvSpPr>
          <p:cNvPr id="86" name="직사각형 17"/>
          <p:cNvSpPr/>
          <p:nvPr/>
        </p:nvSpPr>
        <p:spPr>
          <a:xfrm>
            <a:off x="3452400" y="2248920"/>
            <a:ext cx="2279520" cy="2671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맑은 고딕"/>
            </a:endParaRPr>
          </a:p>
        </p:txBody>
      </p:sp>
      <p:sp>
        <p:nvSpPr>
          <p:cNvPr id="87" name="직사각형 18"/>
          <p:cNvSpPr/>
          <p:nvPr/>
        </p:nvSpPr>
        <p:spPr>
          <a:xfrm>
            <a:off x="1913040" y="6426000"/>
            <a:ext cx="5557320" cy="4219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맑은 고딕"/>
            </a:endParaRPr>
          </a:p>
        </p:txBody>
      </p:sp>
      <p:sp>
        <p:nvSpPr>
          <p:cNvPr id="88" name="직사각형 19"/>
          <p:cNvSpPr/>
          <p:nvPr/>
        </p:nvSpPr>
        <p:spPr>
          <a:xfrm rot="16200000">
            <a:off x="1582200" y="4823280"/>
            <a:ext cx="8398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맑은 고딕"/>
              </a:rPr>
              <a:t>Vodka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직사각형 20"/>
          <p:cNvSpPr/>
          <p:nvPr/>
        </p:nvSpPr>
        <p:spPr>
          <a:xfrm rot="16200000">
            <a:off x="1792800" y="4731840"/>
            <a:ext cx="15652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맑은 고딕"/>
              </a:rPr>
              <a:t>Orange Juice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직사각형 21"/>
          <p:cNvSpPr/>
          <p:nvPr/>
        </p:nvSpPr>
        <p:spPr>
          <a:xfrm rot="16200000">
            <a:off x="2866680" y="5031000"/>
            <a:ext cx="5396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맑은 고딕"/>
              </a:rPr>
              <a:t>Gin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직사각형 22"/>
          <p:cNvSpPr/>
          <p:nvPr/>
        </p:nvSpPr>
        <p:spPr>
          <a:xfrm rot="16200000">
            <a:off x="2769480" y="4752000"/>
            <a:ext cx="18640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맑은 고딕"/>
              </a:rPr>
              <a:t>Pineap</a:t>
            </a:r>
            <a:r>
              <a:rPr b="0" lang="en-US" sz="1800" spc="-1" strike="noStrike">
                <a:solidFill>
                  <a:schemeClr val="dk1"/>
                </a:solidFill>
                <a:latin typeface="맑은 고딕"/>
              </a:rPr>
              <a:t>ple Juice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직사각형 23"/>
          <p:cNvSpPr/>
          <p:nvPr/>
        </p:nvSpPr>
        <p:spPr>
          <a:xfrm rot="16200000">
            <a:off x="3876480" y="5463360"/>
            <a:ext cx="7956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맑은 고딕"/>
              </a:rPr>
              <a:t>Sugar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직사각형 24"/>
          <p:cNvSpPr/>
          <p:nvPr/>
        </p:nvSpPr>
        <p:spPr>
          <a:xfrm rot="16200000">
            <a:off x="4082040" y="4709520"/>
            <a:ext cx="15289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맑은 고딕"/>
              </a:rPr>
              <a:t>Le</a:t>
            </a:r>
            <a:r>
              <a:rPr b="0" lang="en-US" sz="1800" spc="-1" strike="noStrike">
                <a:solidFill>
                  <a:schemeClr val="dk1"/>
                </a:solidFill>
                <a:latin typeface="맑은 고딕"/>
              </a:rPr>
              <a:t>mon Juice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직사각형 25"/>
          <p:cNvSpPr/>
          <p:nvPr/>
        </p:nvSpPr>
        <p:spPr>
          <a:xfrm rot="16200000">
            <a:off x="5019480" y="4823640"/>
            <a:ext cx="7988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맑은 고딕"/>
              </a:rPr>
              <a:t>Water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직사각형 26"/>
          <p:cNvSpPr/>
          <p:nvPr/>
        </p:nvSpPr>
        <p:spPr>
          <a:xfrm rot="16200000">
            <a:off x="5497200" y="4838760"/>
            <a:ext cx="9633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맑은 고딕"/>
              </a:rPr>
              <a:t>Tequila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직사각형 27"/>
          <p:cNvSpPr/>
          <p:nvPr/>
        </p:nvSpPr>
        <p:spPr>
          <a:xfrm rot="16200000">
            <a:off x="5948640" y="4762440"/>
            <a:ext cx="12103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맑은 고딕"/>
              </a:rPr>
              <a:t>Light rum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직사각형 28"/>
          <p:cNvSpPr/>
          <p:nvPr/>
        </p:nvSpPr>
        <p:spPr>
          <a:xfrm rot="16200000">
            <a:off x="6530760" y="4762800"/>
            <a:ext cx="11905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맑은 고딕"/>
              </a:rPr>
              <a:t>Triple sec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그림 2" descr=""/>
          <p:cNvPicPr/>
          <p:nvPr/>
        </p:nvPicPr>
        <p:blipFill>
          <a:blip r:embed="rId1"/>
          <a:stretch/>
        </p:blipFill>
        <p:spPr>
          <a:xfrm>
            <a:off x="5118840" y="3326760"/>
            <a:ext cx="3876840" cy="1162800"/>
          </a:xfrm>
          <a:prstGeom prst="rect">
            <a:avLst/>
          </a:prstGeom>
          <a:ln w="0">
            <a:noFill/>
          </a:ln>
        </p:spPr>
      </p:pic>
      <p:pic>
        <p:nvPicPr>
          <p:cNvPr id="99" name="그림 3" descr=""/>
          <p:cNvPicPr/>
          <p:nvPr/>
        </p:nvPicPr>
        <p:blipFill>
          <a:blip r:embed="rId2"/>
          <a:stretch/>
        </p:blipFill>
        <p:spPr>
          <a:xfrm>
            <a:off x="280080" y="3327480"/>
            <a:ext cx="3874680" cy="1162080"/>
          </a:xfrm>
          <a:prstGeom prst="rect">
            <a:avLst/>
          </a:prstGeom>
          <a:ln w="0">
            <a:noFill/>
          </a:ln>
        </p:spPr>
      </p:pic>
      <p:sp>
        <p:nvSpPr>
          <p:cNvPr id="100" name="TextBox 1"/>
          <p:cNvSpPr/>
          <p:nvPr/>
        </p:nvSpPr>
        <p:spPr>
          <a:xfrm>
            <a:off x="332640" y="1008720"/>
            <a:ext cx="34520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en-US" sz="1800" spc="-1" strike="noStrike">
                <a:solidFill>
                  <a:schemeClr val="dk1"/>
                </a:solidFill>
                <a:latin typeface="맑은 고딕"/>
              </a:rPr>
              <a:t>Input: </a:t>
            </a:r>
            <a:r>
              <a:rPr b="0" lang="en-US" sz="1800" spc="-1" strike="noStrike">
                <a:solidFill>
                  <a:schemeClr val="dk1"/>
                </a:solidFill>
                <a:latin typeface="맑은 고딕"/>
              </a:rPr>
              <a:t>Cosmopolitan Martini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TextBox 2"/>
          <p:cNvSpPr/>
          <p:nvPr/>
        </p:nvSpPr>
        <p:spPr>
          <a:xfrm>
            <a:off x="5392440" y="923760"/>
            <a:ext cx="284940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en-US" sz="1800" spc="-1" strike="noStrike">
                <a:solidFill>
                  <a:schemeClr val="dk1"/>
                </a:solidFill>
                <a:latin typeface="맑은 고딕"/>
              </a:rPr>
              <a:t>Output: </a:t>
            </a:r>
            <a:r>
              <a:rPr b="0" lang="en-US" sz="1800" spc="-1" strike="noStrike">
                <a:solidFill>
                  <a:schemeClr val="dk1"/>
                </a:solidFill>
                <a:latin typeface="맑은 고딕"/>
              </a:rPr>
              <a:t>Cape Codder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맑은 고딕"/>
              </a:rPr>
              <a:t>(score=</a:t>
            </a:r>
            <a:r>
              <a:rPr b="0" lang="en-US" sz="1800" spc="-1" strike="noStrike">
                <a:solidFill>
                  <a:schemeClr val="dk1"/>
                </a:solidFill>
                <a:latin typeface="맑은 고딕"/>
              </a:rPr>
              <a:t>0.75)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TextBox 3"/>
          <p:cNvSpPr/>
          <p:nvPr/>
        </p:nvSpPr>
        <p:spPr>
          <a:xfrm>
            <a:off x="611280" y="204840"/>
            <a:ext cx="7999200" cy="94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en-US" sz="2800" spc="-1" strike="noStrike">
                <a:solidFill>
                  <a:schemeClr val="dk1"/>
                </a:solidFill>
                <a:latin typeface="맑은 고딕"/>
              </a:rPr>
              <a:t>Slide#2: Recommendation (Similarity Search)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3" name="그림 4" descr=""/>
          <p:cNvPicPr/>
          <p:nvPr/>
        </p:nvPicPr>
        <p:blipFill>
          <a:blip r:embed="rId3"/>
          <a:stretch/>
        </p:blipFill>
        <p:spPr>
          <a:xfrm>
            <a:off x="1281960" y="1446480"/>
            <a:ext cx="1696320" cy="1719360"/>
          </a:xfrm>
          <a:prstGeom prst="rect">
            <a:avLst/>
          </a:prstGeom>
          <a:ln w="0">
            <a:noFill/>
          </a:ln>
        </p:spPr>
      </p:pic>
      <p:pic>
        <p:nvPicPr>
          <p:cNvPr id="104" name="그림 5" descr=""/>
          <p:cNvPicPr/>
          <p:nvPr/>
        </p:nvPicPr>
        <p:blipFill>
          <a:blip r:embed="rId4"/>
          <a:stretch/>
        </p:blipFill>
        <p:spPr>
          <a:xfrm>
            <a:off x="608040" y="4712400"/>
            <a:ext cx="2901240" cy="1779840"/>
          </a:xfrm>
          <a:prstGeom prst="rect">
            <a:avLst/>
          </a:prstGeom>
          <a:ln w="0">
            <a:noFill/>
          </a:ln>
        </p:spPr>
      </p:pic>
      <p:pic>
        <p:nvPicPr>
          <p:cNvPr id="105" name="그림 6" descr=""/>
          <p:cNvPicPr/>
          <p:nvPr/>
        </p:nvPicPr>
        <p:blipFill>
          <a:blip r:embed="rId5"/>
          <a:stretch/>
        </p:blipFill>
        <p:spPr>
          <a:xfrm>
            <a:off x="5814000" y="4669920"/>
            <a:ext cx="2486520" cy="1834200"/>
          </a:xfrm>
          <a:prstGeom prst="rect">
            <a:avLst/>
          </a:prstGeom>
          <a:ln w="0">
            <a:noFill/>
          </a:ln>
        </p:spPr>
      </p:pic>
      <p:pic>
        <p:nvPicPr>
          <p:cNvPr id="106" name="그림 8" descr=""/>
          <p:cNvPicPr/>
          <p:nvPr/>
        </p:nvPicPr>
        <p:blipFill>
          <a:blip r:embed="rId6"/>
          <a:stretch/>
        </p:blipFill>
        <p:spPr>
          <a:xfrm>
            <a:off x="6496920" y="1501920"/>
            <a:ext cx="838080" cy="1512720"/>
          </a:xfrm>
          <a:prstGeom prst="rect">
            <a:avLst/>
          </a:prstGeom>
          <a:ln w="0">
            <a:noFill/>
          </a:ln>
        </p:spPr>
      </p:pic>
      <p:sp>
        <p:nvSpPr>
          <p:cNvPr id="107" name="오른쪽 화살표 1"/>
          <p:cNvSpPr/>
          <p:nvPr/>
        </p:nvSpPr>
        <p:spPr>
          <a:xfrm>
            <a:off x="4155120" y="1499760"/>
            <a:ext cx="793080" cy="151488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맑은 고딕"/>
            </a:endParaRPr>
          </a:p>
        </p:txBody>
      </p:sp>
      <p:sp>
        <p:nvSpPr>
          <p:cNvPr id="108" name="TextBox 11"/>
          <p:cNvSpPr/>
          <p:nvPr/>
        </p:nvSpPr>
        <p:spPr>
          <a:xfrm rot="16200000">
            <a:off x="4516920" y="3673800"/>
            <a:ext cx="1001520" cy="303120"/>
          </a:xfrm>
          <a:prstGeom prst="rect">
            <a:avLst/>
          </a:prstGeom>
          <a:solidFill>
            <a:schemeClr val="bg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1400" spc="-1" strike="noStrike">
                <a:solidFill>
                  <a:schemeClr val="dk1"/>
                </a:solidFill>
                <a:latin typeface="맑은 고딕"/>
              </a:rPr>
              <a:t>volume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TextBox 12"/>
          <p:cNvSpPr/>
          <p:nvPr/>
        </p:nvSpPr>
        <p:spPr>
          <a:xfrm>
            <a:off x="280080" y="4135320"/>
            <a:ext cx="3841920" cy="303120"/>
          </a:xfrm>
          <a:prstGeom prst="rect">
            <a:avLst/>
          </a:prstGeom>
          <a:solidFill>
            <a:schemeClr val="bg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1400" spc="-1" strike="noStrike">
                <a:solidFill>
                  <a:schemeClr val="dk1"/>
                </a:solidFill>
                <a:latin typeface="맑은 고딕"/>
              </a:rPr>
              <a:t>ingredients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TextBox 13"/>
          <p:cNvSpPr/>
          <p:nvPr/>
        </p:nvSpPr>
        <p:spPr>
          <a:xfrm rot="16200000">
            <a:off x="-318240" y="3673800"/>
            <a:ext cx="1001520" cy="303120"/>
          </a:xfrm>
          <a:prstGeom prst="rect">
            <a:avLst/>
          </a:prstGeom>
          <a:solidFill>
            <a:schemeClr val="bg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1400" spc="-1" strike="noStrike">
                <a:solidFill>
                  <a:schemeClr val="dk1"/>
                </a:solidFill>
                <a:latin typeface="맑은 고딕"/>
              </a:rPr>
              <a:t>volume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TextBox 14"/>
          <p:cNvSpPr/>
          <p:nvPr/>
        </p:nvSpPr>
        <p:spPr>
          <a:xfrm>
            <a:off x="5167080" y="4135320"/>
            <a:ext cx="3841920" cy="303120"/>
          </a:xfrm>
          <a:prstGeom prst="rect">
            <a:avLst/>
          </a:prstGeom>
          <a:solidFill>
            <a:schemeClr val="bg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1400" spc="-1" strike="noStrike">
                <a:solidFill>
                  <a:schemeClr val="dk1"/>
                </a:solidFill>
                <a:latin typeface="맑은 고딕"/>
              </a:rPr>
              <a:t>ingredients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그림 9" descr=""/>
          <p:cNvPicPr/>
          <p:nvPr/>
        </p:nvPicPr>
        <p:blipFill>
          <a:blip r:embed="rId1"/>
          <a:srcRect l="0" t="-7705" r="0" b="11035"/>
          <a:stretch/>
        </p:blipFill>
        <p:spPr>
          <a:xfrm>
            <a:off x="457200" y="0"/>
            <a:ext cx="8229240" cy="6629040"/>
          </a:xfrm>
          <a:prstGeom prst="rect">
            <a:avLst/>
          </a:prstGeom>
          <a:ln w="0">
            <a:noFill/>
          </a:ln>
        </p:spPr>
      </p:pic>
      <p:sp>
        <p:nvSpPr>
          <p:cNvPr id="113" name="TextBox 7"/>
          <p:cNvSpPr/>
          <p:nvPr/>
        </p:nvSpPr>
        <p:spPr>
          <a:xfrm>
            <a:off x="632160" y="204840"/>
            <a:ext cx="752328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en-US" sz="2800" spc="-1" strike="noStrike">
                <a:solidFill>
                  <a:schemeClr val="dk1"/>
                </a:solidFill>
                <a:latin typeface="맑은 고딕"/>
              </a:rPr>
              <a:t>Slide#3: PCA and Clustering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TextBox 8"/>
          <p:cNvSpPr/>
          <p:nvPr/>
        </p:nvSpPr>
        <p:spPr>
          <a:xfrm>
            <a:off x="5454720" y="4763520"/>
            <a:ext cx="240084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en-US" sz="2400" spc="-1" strike="noStrike">
                <a:solidFill>
                  <a:srgbClr val="7030a0"/>
                </a:solidFill>
                <a:latin typeface="맑은 고딕"/>
              </a:rPr>
              <a:t>“</a:t>
            </a:r>
            <a:r>
              <a:rPr b="1" lang="en-US" sz="2400" spc="-1" strike="noStrike">
                <a:solidFill>
                  <a:srgbClr val="7030a0"/>
                </a:solidFill>
                <a:latin typeface="맑은 고딕"/>
              </a:rPr>
              <a:t>Others”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TextBox 9"/>
          <p:cNvSpPr/>
          <p:nvPr/>
        </p:nvSpPr>
        <p:spPr>
          <a:xfrm rot="16746000">
            <a:off x="4890960" y="2982600"/>
            <a:ext cx="292968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en-US" sz="2400" spc="-1" strike="noStrike">
                <a:solidFill>
                  <a:srgbClr val="ffc000"/>
                </a:solidFill>
                <a:latin typeface="맑은 고딕"/>
              </a:rPr>
              <a:t>“</a:t>
            </a:r>
            <a:r>
              <a:rPr b="1" lang="en-US" sz="2400" spc="-1" strike="noStrike">
                <a:solidFill>
                  <a:srgbClr val="ffc000"/>
                </a:solidFill>
                <a:latin typeface="맑은 고딕"/>
              </a:rPr>
              <a:t>Orange Juice”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TextBox 10"/>
          <p:cNvSpPr/>
          <p:nvPr/>
        </p:nvSpPr>
        <p:spPr>
          <a:xfrm>
            <a:off x="4697280" y="5492520"/>
            <a:ext cx="39157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en-US" sz="2400" spc="-1" strike="noStrike">
                <a:solidFill>
                  <a:srgbClr val="0070c0"/>
                </a:solidFill>
                <a:latin typeface="맑은 고딕"/>
              </a:rPr>
              <a:t>“</a:t>
            </a:r>
            <a:r>
              <a:rPr b="1" lang="en-US" sz="2400" spc="-1" strike="noStrike">
                <a:solidFill>
                  <a:srgbClr val="0070c0"/>
                </a:solidFill>
                <a:latin typeface="맑은 고딕"/>
              </a:rPr>
              <a:t>Kahlua &amp; Irish Cream”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TextBox 18"/>
          <p:cNvSpPr/>
          <p:nvPr/>
        </p:nvSpPr>
        <p:spPr>
          <a:xfrm>
            <a:off x="2637360" y="5212800"/>
            <a:ext cx="137988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en-US" sz="2400" spc="-1" strike="noStrike">
                <a:solidFill>
                  <a:srgbClr val="00b050"/>
                </a:solidFill>
                <a:latin typeface="맑은 고딕"/>
              </a:rPr>
              <a:t>“</a:t>
            </a:r>
            <a:r>
              <a:rPr b="1" lang="en-US" sz="2400" spc="-1" strike="noStrike">
                <a:solidFill>
                  <a:srgbClr val="00b050"/>
                </a:solidFill>
                <a:latin typeface="맑은 고딕"/>
              </a:rPr>
              <a:t>Gin”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TextBox 19"/>
          <p:cNvSpPr/>
          <p:nvPr/>
        </p:nvSpPr>
        <p:spPr>
          <a:xfrm rot="2066400">
            <a:off x="3145680" y="3853440"/>
            <a:ext cx="16351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en-US" sz="2400" spc="-1" strike="noStrike">
                <a:solidFill>
                  <a:srgbClr val="ff0000"/>
                </a:solidFill>
                <a:latin typeface="맑은 고딕"/>
              </a:rPr>
              <a:t>“</a:t>
            </a:r>
            <a:r>
              <a:rPr b="1" lang="en-US" sz="2400" spc="-1" strike="noStrike">
                <a:solidFill>
                  <a:srgbClr val="ff0000"/>
                </a:solidFill>
                <a:latin typeface="맑은 고딕"/>
              </a:rPr>
              <a:t>Vodka”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그림 10" descr=""/>
          <p:cNvPicPr/>
          <p:nvPr/>
        </p:nvPicPr>
        <p:blipFill>
          <a:blip r:embed="rId1"/>
          <a:stretch/>
        </p:blipFill>
        <p:spPr>
          <a:xfrm>
            <a:off x="0" y="520560"/>
            <a:ext cx="9143640" cy="6095520"/>
          </a:xfrm>
          <a:prstGeom prst="rect">
            <a:avLst/>
          </a:prstGeom>
          <a:ln w="0">
            <a:noFill/>
          </a:ln>
        </p:spPr>
      </p:pic>
      <p:sp>
        <p:nvSpPr>
          <p:cNvPr id="120" name="TextBox 15"/>
          <p:cNvSpPr/>
          <p:nvPr/>
        </p:nvSpPr>
        <p:spPr>
          <a:xfrm>
            <a:off x="1106280" y="196920"/>
            <a:ext cx="689076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en-US" sz="2800" spc="-1" strike="noStrike">
                <a:solidFill>
                  <a:schemeClr val="dk1"/>
                </a:solidFill>
                <a:latin typeface="맑은 고딕"/>
              </a:rPr>
              <a:t>Slide#4: Market Segmentation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TextBox 16"/>
          <p:cNvSpPr/>
          <p:nvPr/>
        </p:nvSpPr>
        <p:spPr>
          <a:xfrm>
            <a:off x="5295960" y="1258920"/>
            <a:ext cx="287352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914400">
              <a:lnSpc>
                <a:spcPct val="100000"/>
              </a:lnSpc>
            </a:pPr>
            <a:r>
              <a:rPr b="1" lang="en-US" sz="2800" spc="-1" strike="noStrike">
                <a:solidFill>
                  <a:srgbClr val="7030a0"/>
                </a:solidFill>
                <a:latin typeface="맑은 고딕"/>
              </a:rPr>
              <a:t>“</a:t>
            </a:r>
            <a:r>
              <a:rPr b="1" lang="en-US" sz="2800" spc="-1" strike="noStrike">
                <a:solidFill>
                  <a:srgbClr val="7030a0"/>
                </a:solidFill>
                <a:latin typeface="맑은 고딕"/>
              </a:rPr>
              <a:t>Others” (58%)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TextBox 17"/>
          <p:cNvSpPr/>
          <p:nvPr/>
        </p:nvSpPr>
        <p:spPr>
          <a:xfrm>
            <a:off x="4826160" y="3347280"/>
            <a:ext cx="334368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914400">
              <a:lnSpc>
                <a:spcPct val="100000"/>
              </a:lnSpc>
            </a:pPr>
            <a:r>
              <a:rPr b="1" lang="en-US" sz="2800" spc="-1" strike="noStrike">
                <a:solidFill>
                  <a:srgbClr val="00b050"/>
                </a:solidFill>
                <a:latin typeface="맑은 고딕"/>
              </a:rPr>
              <a:t>“</a:t>
            </a:r>
            <a:r>
              <a:rPr b="1" lang="en-US" sz="2800" spc="-1" strike="noStrike">
                <a:solidFill>
                  <a:srgbClr val="00b050"/>
                </a:solidFill>
                <a:latin typeface="맑은 고딕"/>
              </a:rPr>
              <a:t>Gin” (12%)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TextBox 27"/>
          <p:cNvSpPr/>
          <p:nvPr/>
        </p:nvSpPr>
        <p:spPr>
          <a:xfrm>
            <a:off x="2849040" y="5239440"/>
            <a:ext cx="532044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914400">
              <a:lnSpc>
                <a:spcPct val="100000"/>
              </a:lnSpc>
            </a:pPr>
            <a:r>
              <a:rPr b="1" lang="en-US" sz="2800" spc="-1" strike="noStrike">
                <a:solidFill>
                  <a:srgbClr val="0070c0"/>
                </a:solidFill>
                <a:latin typeface="맑은 고딕"/>
              </a:rPr>
              <a:t>“</a:t>
            </a:r>
            <a:r>
              <a:rPr b="1" lang="en-US" sz="2800" spc="-1" strike="noStrike">
                <a:solidFill>
                  <a:srgbClr val="0070c0"/>
                </a:solidFill>
                <a:latin typeface="맑은 고딕"/>
              </a:rPr>
              <a:t>Kahlua &amp; Irish cream” (5%)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TextBox 28"/>
          <p:cNvSpPr/>
          <p:nvPr/>
        </p:nvSpPr>
        <p:spPr>
          <a:xfrm>
            <a:off x="4349880" y="4306680"/>
            <a:ext cx="381960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914400">
              <a:lnSpc>
                <a:spcPct val="100000"/>
              </a:lnSpc>
            </a:pPr>
            <a:r>
              <a:rPr b="1" lang="en-US" sz="2800" spc="-1" strike="noStrike">
                <a:solidFill>
                  <a:srgbClr val="ffc000"/>
                </a:solidFill>
                <a:latin typeface="맑은 고딕"/>
              </a:rPr>
              <a:t>“</a:t>
            </a:r>
            <a:r>
              <a:rPr b="1" lang="en-US" sz="2800" spc="-1" strike="noStrike">
                <a:solidFill>
                  <a:srgbClr val="ffc000"/>
                </a:solidFill>
                <a:latin typeface="맑은 고딕"/>
              </a:rPr>
              <a:t>Orange Juice” (8%)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TextBox 29"/>
          <p:cNvSpPr/>
          <p:nvPr/>
        </p:nvSpPr>
        <p:spPr>
          <a:xfrm>
            <a:off x="5105520" y="2323440"/>
            <a:ext cx="306396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914400">
              <a:lnSpc>
                <a:spcPct val="100000"/>
              </a:lnSpc>
            </a:pPr>
            <a:r>
              <a:rPr b="1" lang="en-US" sz="2800" spc="-1" strike="noStrike">
                <a:solidFill>
                  <a:srgbClr val="ff0000"/>
                </a:solidFill>
                <a:latin typeface="맑은 고딕"/>
              </a:rPr>
              <a:t>“</a:t>
            </a:r>
            <a:r>
              <a:rPr b="1" lang="en-US" sz="2800" spc="-1" strike="noStrike">
                <a:solidFill>
                  <a:srgbClr val="ff0000"/>
                </a:solidFill>
                <a:latin typeface="맑은 고딕"/>
              </a:rPr>
              <a:t>Vodka” (17%)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직사각형 3"/>
          <p:cNvSpPr/>
          <p:nvPr/>
        </p:nvSpPr>
        <p:spPr>
          <a:xfrm>
            <a:off x="711360" y="673200"/>
            <a:ext cx="425160" cy="56955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맑은 고딕"/>
            </a:endParaRPr>
          </a:p>
        </p:txBody>
      </p:sp>
      <p:sp>
        <p:nvSpPr>
          <p:cNvPr id="127" name="직사각형 4"/>
          <p:cNvSpPr/>
          <p:nvPr/>
        </p:nvSpPr>
        <p:spPr>
          <a:xfrm>
            <a:off x="1117080" y="1981800"/>
            <a:ext cx="7188480" cy="1576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맑은 고딕"/>
            </a:endParaRPr>
          </a:p>
        </p:txBody>
      </p:sp>
      <p:sp>
        <p:nvSpPr>
          <p:cNvPr id="128" name="직사각형 5"/>
          <p:cNvSpPr/>
          <p:nvPr/>
        </p:nvSpPr>
        <p:spPr>
          <a:xfrm>
            <a:off x="1098360" y="2991960"/>
            <a:ext cx="7188480" cy="1576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맑은 고딕"/>
            </a:endParaRPr>
          </a:p>
        </p:txBody>
      </p:sp>
      <p:sp>
        <p:nvSpPr>
          <p:cNvPr id="129" name="직사각형 6"/>
          <p:cNvSpPr/>
          <p:nvPr/>
        </p:nvSpPr>
        <p:spPr>
          <a:xfrm>
            <a:off x="1101240" y="3999960"/>
            <a:ext cx="7188480" cy="1576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맑은 고딕"/>
            </a:endParaRPr>
          </a:p>
        </p:txBody>
      </p:sp>
      <p:sp>
        <p:nvSpPr>
          <p:cNvPr id="130" name="직사각형 7"/>
          <p:cNvSpPr/>
          <p:nvPr/>
        </p:nvSpPr>
        <p:spPr>
          <a:xfrm>
            <a:off x="1059840" y="5009040"/>
            <a:ext cx="7188480" cy="1576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맑은 고딕"/>
            </a:endParaRPr>
          </a:p>
        </p:txBody>
      </p:sp>
      <p:sp>
        <p:nvSpPr>
          <p:cNvPr id="131" name="직사각형 8"/>
          <p:cNvSpPr/>
          <p:nvPr/>
        </p:nvSpPr>
        <p:spPr>
          <a:xfrm>
            <a:off x="1050120" y="6013800"/>
            <a:ext cx="7188480" cy="7477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맑은 고딕"/>
            </a:endParaRPr>
          </a:p>
        </p:txBody>
      </p:sp>
      <p:sp>
        <p:nvSpPr>
          <p:cNvPr id="132" name="TextBox 30"/>
          <p:cNvSpPr/>
          <p:nvPr/>
        </p:nvSpPr>
        <p:spPr>
          <a:xfrm rot="16200000">
            <a:off x="441360" y="5448240"/>
            <a:ext cx="1001520" cy="303120"/>
          </a:xfrm>
          <a:prstGeom prst="rect">
            <a:avLst/>
          </a:prstGeom>
          <a:solidFill>
            <a:schemeClr val="bg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1400" spc="-1" strike="noStrike">
                <a:solidFill>
                  <a:schemeClr val="dk1"/>
                </a:solidFill>
                <a:latin typeface="맑은 고딕"/>
              </a:rPr>
              <a:t>volume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TextBox 31"/>
          <p:cNvSpPr/>
          <p:nvPr/>
        </p:nvSpPr>
        <p:spPr>
          <a:xfrm>
            <a:off x="2616120" y="6013800"/>
            <a:ext cx="3841920" cy="303120"/>
          </a:xfrm>
          <a:prstGeom prst="rect">
            <a:avLst/>
          </a:prstGeom>
          <a:solidFill>
            <a:schemeClr val="bg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1400" spc="-1" strike="noStrike">
                <a:solidFill>
                  <a:schemeClr val="dk1"/>
                </a:solidFill>
                <a:latin typeface="맑은 고딕"/>
              </a:rPr>
              <a:t>ingredients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Rectangle 27"/>
          <p:cNvSpPr/>
          <p:nvPr/>
        </p:nvSpPr>
        <p:spPr>
          <a:xfrm>
            <a:off x="448920" y="2943720"/>
            <a:ext cx="8152560" cy="82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en-US" sz="4800" spc="-1" strike="noStrike">
                <a:solidFill>
                  <a:schemeClr val="dk1"/>
                </a:solidFill>
                <a:latin typeface="Calibri"/>
              </a:rPr>
              <a:t>Thank you!</a:t>
            </a:r>
            <a:endParaRPr b="0" lang="en-US" sz="4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 pitchFamily="0" charset="1"/>
        <a:ea typeface=""/>
        <a:cs typeface=""/>
      </a:majorFont>
      <a:minorFont>
        <a:latin typeface="맑은 고딕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4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2542</TotalTime>
  <Application>LibreOffice/24.2.7.2$Linux_X86_64 LibreOffice_project/420$Build-2</Application>
  <AppVersion>15.0000</AppVersion>
  <Words>574</Words>
  <Paragraphs>137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/>
  <dc:description/>
  <dc:language>ko-KR</dc:language>
  <cp:lastModifiedBy/>
  <cp:lastPrinted>2013-10-15T19:46:49Z</cp:lastPrinted>
  <dcterms:modified xsi:type="dcterms:W3CDTF">2026-07-22T10:38:00Z</dcterms:modified>
  <cp:revision>363</cp:revision>
  <dc:subject/>
  <dc:title>PowerPoint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4</vt:i4>
  </property>
  <property fmtid="{D5CDD505-2E9C-101B-9397-08002B2CF9AE}" pid="3" name="PresentationFormat">
    <vt:lpwstr>화면 슬라이드 쇼(4:3)</vt:lpwstr>
  </property>
  <property fmtid="{D5CDD505-2E9C-101B-9397-08002B2CF9AE}" pid="4" name="Slides">
    <vt:i4>19</vt:i4>
  </property>
</Properties>
</file>